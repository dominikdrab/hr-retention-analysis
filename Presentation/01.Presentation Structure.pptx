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ABAEE-7BA6-4BEE-846C-BCB133A4BB6E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ACCF2-68ED-4073-898A-FB07A8ED94B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875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ACCF2-68ED-4073-898A-FB07A8ED94B5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930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ACCF2-68ED-4073-898A-FB07A8ED94B5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7002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ACCF2-68ED-4073-898A-FB07A8ED94B5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8049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ACCF2-68ED-4073-898A-FB07A8ED94B5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551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08115E-34B2-53EA-BCC3-BD7A89F74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FCED923-0E37-AE27-4F5F-AF4219215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1E78054-A0EB-E168-BED5-FF180DC5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620A42F-FCF1-43EB-350C-E1D0447C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911D0CA-050B-04DE-57D9-94B4AF5C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9581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4CFFBD-344B-8E32-468C-FA6365A2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01F7C6-DDDA-A4D6-047A-CC1092CA2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37BDC4-601C-02C3-678C-A911D425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52DE3F6-43A1-A56B-2586-EED44541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0B1365-F17E-D2B2-04D5-9B7B9E16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221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FB31C6-AA5A-45BC-626F-7D5A2293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6903DA-1B8D-33FB-EBBA-F2F181B69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C4F6B66-3808-0EA5-8502-4DECD2C0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5DA6219-FCB2-47BE-E986-9D4B9776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5AE6C41-79B5-4F73-9A06-FD3DAFC1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978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9AA6D0-FB67-E9B5-349F-D33DD068C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F5F99F1-2F82-C939-3F5E-B224E9C2B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3608CD4-262A-6B43-D73B-2D83B6F04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4F35E6F-B7D6-36C3-024F-B203A3FD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A32647C-D5EC-F7CB-7725-F889054A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0958CDE-8C17-1861-4BFD-3DC86A6D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225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ED9152-62F1-EC06-8650-E90E4192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DB781A6-E7A5-F9B6-773A-66B91A246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758B81E-1126-367D-3636-FD7BD8285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67CE0AB-5791-8334-1AEB-FB112BFBE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0FFFA25-60E3-C22C-F713-C5B72334E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28CB492-045B-A269-613B-1F89F127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4E9054-07D7-BCB2-A2EF-13AD2DB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ED5DBB7-8812-238E-CDB8-C7547FBB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52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F48A53-CA67-8DDC-9F98-7113F6A6E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139D99E-2D45-A8BE-2147-0293066E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6DEAFC4-2E6C-B1C3-1AF7-EE105BF9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5842E37-5E2E-6DDF-D41E-6EC6CDC0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141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198EF32-9F27-8786-F457-0A0C436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4AF46DD-FE2F-B4EE-73D3-1756E237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6628044-26BC-094B-0017-B5918241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92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6F5D9A-EA18-786F-E649-01F4FD56D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C08DF9-78CA-15B5-3EA2-0846447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634706B-5328-642B-5CFE-A8BD1FE44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5A67831-E710-E67E-82F0-A70E4878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9EA11CC-3DAA-83C3-3FB3-E84E2C5A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BE2367D-CD6F-50BD-21C9-9CB70E42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571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959073-3450-D915-ECDF-2CCD613B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B4EF5A6-C9D1-430C-889B-5F4DB3EF3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989B0DA-7E57-FE8A-DEE7-39C86F9B0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BC61819-14EB-ADA0-97CD-B10B2571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564E96-9B17-1E0C-B530-43F8116A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DF0FB40-B17D-7552-2F2F-8F87CD71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887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68F15C-724D-112D-364C-0654D862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9ADBE50-6FAB-E623-8549-57D4C00BA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24FF02-E2FF-E045-F6AA-5206BE24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BB32CF-2A6A-E124-0ABE-9854161B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C85B30A-94A9-0329-999F-DD4C5F42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067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816A85E-66B0-280F-09A7-C06764B98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D403536-03CD-85B4-2F60-5B4AF788E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3AAFB8-C858-93E3-03C2-ABC94FF6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819117E-2932-1930-EDAA-DE0AEE51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F8A5B9-6B59-CF18-FCF5-B88DFAC3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555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8C97577-0ADA-3CBF-EAF7-D17951E3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E3A112-A7BC-AD7D-638F-2A74B7CD1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9321964-51AA-0121-B14F-88B5FA833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ECDA7-E210-4957-BAE3-3B9B244E93D1}" type="datetimeFigureOut">
              <a:rPr lang="pl-PL" smtClean="0"/>
              <a:t>17.07.2026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BCC1E36-AC90-10E7-6FC5-A8722A8ED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4D5EE12-4954-4016-065A-FD0AD858C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F26BE-A400-4332-9CEE-5915FC4B2D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995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FB9969-C1B3-E3F1-2371-FEBD487FA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Strategia Retencji 2026: Diagnoza i Plan Działań Naprawczych.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182487-DC80-10BA-6F0D-AA2A678F4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79085"/>
            <a:ext cx="9144000" cy="1655762"/>
          </a:xfrm>
        </p:spPr>
        <p:txBody>
          <a:bodyPr/>
          <a:lstStyle/>
          <a:p>
            <a:r>
              <a:rPr lang="pl-PL" dirty="0"/>
              <a:t>Analiza danych dotyczących rotacji pracowników w perspektywie 12 miesięcy.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3594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4D5537-BDA9-DA4F-4306-ADD7D796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700"/>
            <a:ext cx="10515600" cy="1325563"/>
          </a:xfrm>
        </p:spPr>
        <p:txBody>
          <a:bodyPr>
            <a:noAutofit/>
          </a:bodyPr>
          <a:lstStyle/>
          <a:p>
            <a:r>
              <a:rPr lang="pl-PL" sz="3200" b="1" dirty="0"/>
              <a:t>Cel analizy </a:t>
            </a:r>
            <a:r>
              <a:rPr lang="pl-PL" sz="3200" dirty="0"/>
              <a:t>- Zidentyfikowanie przyczyn wzrostu rotacji i wdrożenie rozwiązań opartych na twardych danych.</a:t>
            </a:r>
            <a:br>
              <a:rPr lang="pl-PL" sz="3200" dirty="0"/>
            </a:br>
            <a:endParaRPr lang="pl-PL" sz="32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C3BC74-D4EB-AE84-7D36-DA3E9EF9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20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l-PL" b="1" dirty="0"/>
              <a:t>Agenda:</a:t>
            </a:r>
            <a:endParaRPr lang="pl-PL" dirty="0"/>
          </a:p>
          <a:p>
            <a:r>
              <a:rPr lang="pl-PL" dirty="0"/>
              <a:t>Przegląd trendów (obecna sytuacja).</a:t>
            </a:r>
          </a:p>
          <a:p>
            <a:r>
              <a:rPr lang="pl-PL" dirty="0"/>
              <a:t>Diagnoza przyczyn (zarządzanie i ekonomia).</a:t>
            </a:r>
          </a:p>
          <a:p>
            <a:r>
              <a:rPr lang="pl-PL" dirty="0"/>
              <a:t>Plan naprawczy (konkretne kroki).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1882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5BC2B9-724F-6882-BF3E-C88E75CA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Obraz obecny:</a:t>
            </a:r>
            <a:br>
              <a:rPr lang="pl-PL" dirty="0"/>
            </a:br>
            <a:r>
              <a:rPr lang="pl-PL" sz="2200" dirty="0"/>
              <a:t>Średnia rotacja 17,02% wymaga podjęcia działań naprawczych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BACD19A6-FB95-0A20-40EA-87090C1EC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29615" y="1825625"/>
            <a:ext cx="79327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2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075BB1-ED21-48C5-2BF6-2EBB6CA5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Identyfikacja obszarów ryzyka (Kraków)</a:t>
            </a:r>
            <a:br>
              <a:rPr lang="pl-PL" dirty="0"/>
            </a:br>
            <a:r>
              <a:rPr lang="pl-PL" sz="2200" dirty="0"/>
              <a:t>Kraków wykazuje najwyższą rotację i trend spadkowy zaangażowania</a:t>
            </a:r>
          </a:p>
        </p:txBody>
      </p:sp>
      <p:pic>
        <p:nvPicPr>
          <p:cNvPr id="15" name="Symbol zastępczy zawartości 14">
            <a:extLst>
              <a:ext uri="{FF2B5EF4-FFF2-40B4-BE49-F238E27FC236}">
                <a16:creationId xmlns:a16="http://schemas.microsoft.com/office/drawing/2014/main" id="{320AE821-4F92-403A-1B93-5DB0FCF0C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65013" y="2594433"/>
            <a:ext cx="2461974" cy="166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8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B5CBF4-B64C-7D78-B646-19D80C89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Gdzie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jest problem?</a:t>
            </a:r>
            <a:b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Operations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są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najbardziej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zagrożone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odejściami</a:t>
            </a:r>
            <a:endParaRPr lang="en-US" sz="2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64FBA06C-2E63-B9A6-9E95-57970C4A3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9322" y="2083506"/>
            <a:ext cx="3713355" cy="385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9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30C07-80EA-3E39-2AAE-2F499A74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Diagnoza - Czynniki ryzyka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F9443FC-07F2-E83C-3ECB-E460F64F7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9457" y="2093512"/>
            <a:ext cx="3439005" cy="342947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A86A8C0-A226-F027-D777-9FA172796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07882"/>
            <a:ext cx="4458322" cy="2800741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1E8C6B1-7D93-029C-011E-49E3AD52FBC7}"/>
              </a:ext>
            </a:extLst>
          </p:cNvPr>
          <p:cNvSpPr txBox="1"/>
          <p:nvPr/>
        </p:nvSpPr>
        <p:spPr>
          <a:xfrm>
            <a:off x="838200" y="5602649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dirty="0"/>
              <a:t>Zidentyfikowano kumulatywny efekt ryzyka: w działach IT i Operations niski poziom wynagrodzeń (brak bufora ekonomicznego) potęguje negatywne skutki deficytów przywódczych u kluczowych managerów.</a:t>
            </a:r>
          </a:p>
        </p:txBody>
      </p:sp>
    </p:spTree>
    <p:extLst>
      <p:ext uri="{BB962C8B-B14F-4D97-AF65-F5344CB8AC3E}">
        <p14:creationId xmlns:p14="http://schemas.microsoft.com/office/powerpoint/2010/main" val="156380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1F18E7-1FF4-FF78-2CB3-F18E22E83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Rekomendacje: Dwutorowy plan naprawczy.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3997DAF-2CBA-7258-3888-6EFB0C05B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Optymalizacja ekonomiczna:</a:t>
            </a:r>
            <a:r>
              <a:rPr lang="pl-PL" dirty="0"/>
              <a:t> Weryfikacja konkurencyjności płacowej w działach IT i Operations (działania HR).</a:t>
            </a:r>
          </a:p>
          <a:p>
            <a:r>
              <a:rPr lang="pl-PL" b="1" dirty="0"/>
              <a:t>Rozwój kompetencji przywódczych:</a:t>
            </a:r>
            <a:r>
              <a:rPr lang="pl-PL" dirty="0"/>
              <a:t> Wdrożenie dedykowanych programów </a:t>
            </a:r>
            <a:r>
              <a:rPr lang="pl-PL" dirty="0" err="1"/>
              <a:t>coachingowych</a:t>
            </a:r>
            <a:r>
              <a:rPr lang="pl-PL" dirty="0"/>
              <a:t> dla Managerów 4, 5 i 6 w celu stabilizacji zaangażowania zespołów.</a:t>
            </a:r>
          </a:p>
          <a:p>
            <a:r>
              <a:rPr lang="pl-PL" b="1" dirty="0"/>
              <a:t>Zarządzanie przez dane:</a:t>
            </a:r>
            <a:r>
              <a:rPr lang="pl-PL" dirty="0"/>
              <a:t> Wdrożenie systemu wczesnego ostrzegania opartego na monitoringu wskaźników </a:t>
            </a:r>
            <a:r>
              <a:rPr lang="pl-PL" i="1" dirty="0"/>
              <a:t>Manager </a:t>
            </a:r>
            <a:r>
              <a:rPr lang="pl-PL" i="1" dirty="0" err="1"/>
              <a:t>Score</a:t>
            </a:r>
            <a:r>
              <a:rPr lang="pl-PL" dirty="0"/>
              <a:t> i </a:t>
            </a:r>
            <a:r>
              <a:rPr lang="pl-PL" i="1" dirty="0"/>
              <a:t>Engagement </a:t>
            </a:r>
            <a:r>
              <a:rPr lang="pl-PL" i="1" dirty="0" err="1"/>
              <a:t>Score</a:t>
            </a:r>
            <a:r>
              <a:rPr lang="pl-PL" dirty="0"/>
              <a:t>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432615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192</Words>
  <Application>Microsoft Office PowerPoint</Application>
  <PresentationFormat>Panoramiczny</PresentationFormat>
  <Paragraphs>20</Paragraphs>
  <Slides>7</Slides>
  <Notes>4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Strategia Retencji 2026: Diagnoza i Plan Działań Naprawczych.</vt:lpstr>
      <vt:lpstr>Cel analizy - Zidentyfikowanie przyczyn wzrostu rotacji i wdrożenie rozwiązań opartych na twardych danych. </vt:lpstr>
      <vt:lpstr>Obraz obecny: Średnia rotacja 17,02% wymaga podjęcia działań naprawczych</vt:lpstr>
      <vt:lpstr>Identyfikacja obszarów ryzyka (Kraków) Kraków wykazuje najwyższą rotację i trend spadkowy zaangażowania</vt:lpstr>
      <vt:lpstr>Gdzie jest problem? IT i Operations są najbardziej zagrożone odejściami</vt:lpstr>
      <vt:lpstr>Diagnoza - Czynniki ryzyka</vt:lpstr>
      <vt:lpstr>Rekomendacje: Dwutorowy plan naprawczy.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Drab</dc:creator>
  <cp:lastModifiedBy>Dominik Drab</cp:lastModifiedBy>
  <cp:revision>2</cp:revision>
  <dcterms:created xsi:type="dcterms:W3CDTF">2026-07-17T10:31:30Z</dcterms:created>
  <dcterms:modified xsi:type="dcterms:W3CDTF">2026-07-17T10:52:37Z</dcterms:modified>
</cp:coreProperties>
</file>